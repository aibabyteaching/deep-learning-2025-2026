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413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ide_clean_white_background_infographic_like_scene.png"/>
          <p:cNvPicPr>
            <a:picLocks noChangeAspect="1"/>
          </p:cNvPicPr>
          <p:nvPr/>
        </p:nvPicPr>
        <p:blipFill>
          <a:blip r:embed="rId3"/>
          <a:srcRect l="1726" r="745"/>
          <a:stretch>
            <a:fillRect/>
          </a:stretch>
        </p:blipFill>
        <p:spPr>
          <a:xfrm>
            <a:off x="367626" y="826954"/>
            <a:ext cx="7423902" cy="447283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83894" y="940897"/>
            <a:ext cx="3977640" cy="4498848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E6F2FC"/>
            </a:solidFill>
            <a:prstDash val="solid"/>
          </a:ln>
          <a:effectLst>
            <a:outerShdw blurRad="25400" dist="50800" dir="2700000" algn="bl" rotWithShape="0">
              <a:srgbClr val="DDECF9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8303934" y="12152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W01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303934" y="1553545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0F172A"/>
                </a:solidFill>
              </a:rPr>
              <a:t>Deep Learning Foundations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8303934" y="2312497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475569"/>
                </a:solidFill>
              </a:rPr>
              <a:t>Neural networks for regression and classification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303934" y="3226897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1167B1"/>
          </a:solidFill>
          <a:ln w="12700">
            <a:solidFill>
              <a:srgbClr val="1167B1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349654" y="3318337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Regression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812694" y="3226897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858414" y="3318337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Classification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303934" y="3958417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</a:rPr>
              <a:t>Professional notebook + visual lecture deck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303934" y="438818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From data to representation to prediction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neural networks are introduced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35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F172A"/>
                </a:solidFill>
              </a:rPr>
              <a:t>Classical ML can work extremely well when useful features are already prepared. Neural networks become valuable when the useful representation itself must be learned from data.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50976" y="2670048"/>
            <a:ext cx="1161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Raw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935224"/>
            <a:ext cx="84124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46120" y="2560320"/>
            <a:ext cx="1554480" cy="749808"/>
          </a:xfrm>
          <a:prstGeom prst="roundRect">
            <a:avLst>
              <a:gd name="adj" fmla="val 9756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74136" y="2670048"/>
            <a:ext cx="1298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Manual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features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846320" y="2935224"/>
            <a:ext cx="79552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760720" y="2560320"/>
            <a:ext cx="1234440" cy="749808"/>
          </a:xfrm>
          <a:prstGeom prst="roundRect">
            <a:avLst>
              <a:gd name="adj" fmla="val 9756"/>
            </a:avLst>
          </a:prstGeom>
          <a:solidFill>
            <a:srgbClr val="EAF5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888736" y="2670048"/>
            <a:ext cx="978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Model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040880" y="2935224"/>
            <a:ext cx="804672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955280" y="2560320"/>
            <a:ext cx="1645920" cy="749808"/>
          </a:xfrm>
          <a:prstGeom prst="roundRect">
            <a:avLst>
              <a:gd name="adj" fmla="val 9756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83296" y="2670048"/>
            <a:ext cx="1389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Prediction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Classical machine learning workflow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3749040"/>
            <a:ext cx="8869680" cy="0"/>
          </a:xfrm>
          <a:prstGeom prst="line">
            <a:avLst/>
          </a:prstGeom>
          <a:noFill/>
          <a:ln w="12700">
            <a:solidFill>
              <a:srgbClr val="D8E8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34440" y="4434840"/>
            <a:ext cx="1325880" cy="749808"/>
          </a:xfrm>
          <a:prstGeom prst="roundRect">
            <a:avLst>
              <a:gd name="adj" fmla="val 9756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362456" y="4544568"/>
            <a:ext cx="10698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Raw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data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606040" y="4809744"/>
            <a:ext cx="74980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474720" y="4434840"/>
            <a:ext cx="2148840" cy="749808"/>
          </a:xfrm>
          <a:prstGeom prst="roundRect">
            <a:avLst>
              <a:gd name="adj" fmla="val 9756"/>
            </a:avLst>
          </a:prstGeom>
          <a:solidFill>
            <a:srgbClr val="EAF5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02736" y="4544568"/>
            <a:ext cx="18928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Learned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representation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4809744"/>
            <a:ext cx="777240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65392" y="4434840"/>
            <a:ext cx="1645920" cy="749808"/>
          </a:xfrm>
          <a:prstGeom prst="roundRect">
            <a:avLst>
              <a:gd name="adj" fmla="val 9756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93408" y="4544568"/>
            <a:ext cx="1389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Prediction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B886"/>
                </a:solidFill>
              </a:rPr>
              <a:t>Deep learning workflow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732520" y="44531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</a:rPr>
              <a:t>Representation learning is the key difference.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neuron: the smallest building block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993392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157276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Inputs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x₁, x₂, …, xₙ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51760" y="2377440"/>
            <a:ext cx="74980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520440" y="187452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EAF5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48456" y="1984248"/>
            <a:ext cx="18013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Weighted sum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z = wᵀx +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0" y="2377440"/>
            <a:ext cx="74980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537960" y="187452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E9FBF5"/>
          </a:solidFill>
          <a:ln w="15240">
            <a:solidFill>
              <a:srgbClr val="BFEBDD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65976" y="1984248"/>
            <a:ext cx="15727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Activation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a = g(z)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76488" y="2377440"/>
            <a:ext cx="713232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308592" y="1993392"/>
            <a:ext cx="1234440" cy="777240"/>
          </a:xfrm>
          <a:prstGeom prst="roundRect">
            <a:avLst>
              <a:gd name="adj" fmla="val 9412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36608" y="2103120"/>
            <a:ext cx="97840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Output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794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67B1"/>
                </a:solidFill>
              </a:rPr>
              <a:t>Expanded equation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4224528"/>
            <a:ext cx="5212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</a:rPr>
              <a:t>z = w₁x₁ + w₂x₂ + ⋯ + wₙxₙ + b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68680" y="48280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B886"/>
                </a:solidFill>
              </a:rPr>
              <a:t>a = g(z)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309360" y="4160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</a:rPr>
              <a:t>Weights and bias are learned from data. The activation allows non-linear behavior instead of only straight-line rules.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used in the notebook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network_architecture.png"/>
          <p:cNvPicPr>
            <a:picLocks noChangeAspect="1"/>
          </p:cNvPicPr>
          <p:nvPr/>
        </p:nvPicPr>
        <p:blipFill>
          <a:blip r:embed="rId3"/>
          <a:srcRect l="3146" r="3146"/>
          <a:stretch/>
        </p:blipFill>
        <p:spPr>
          <a:xfrm>
            <a:off x="594360" y="1325880"/>
            <a:ext cx="6537960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50876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</a:rPr>
              <a:t>Two input features are passed through hidden neurons. Each hidden layer transforms the data into a more useful representation before the final output is produced.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635240" y="2788920"/>
            <a:ext cx="18288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2788920"/>
            <a:ext cx="64008" cy="676656"/>
          </a:xfrm>
          <a:prstGeom prst="rect">
            <a:avLst/>
          </a:prstGeom>
          <a:solidFill>
            <a:srgbClr val="1167B1"/>
          </a:solidFill>
          <a:ln w="12700">
            <a:solidFill>
              <a:srgbClr val="116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99832" y="29077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2 features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799832" y="319125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Input size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9646920" y="2788920"/>
            <a:ext cx="19202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9646920" y="2788920"/>
            <a:ext cx="64008" cy="676656"/>
          </a:xfrm>
          <a:prstGeom prst="rect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811512" y="29077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8 → 4 neurons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811512" y="319125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Hidden layers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7635240" y="3703320"/>
            <a:ext cx="393192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635240" y="3703320"/>
            <a:ext cx="64008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799832" y="3822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1 value or probability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799832" y="410565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Output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7635240" y="48646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The same architecture idea is used twice: once for a numeric prediction and once for a class decision.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problem: delivery-time prediction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regression_data.png"/>
          <p:cNvPicPr>
            <a:picLocks noChangeAspect="1"/>
          </p:cNvPicPr>
          <p:nvPr/>
        </p:nvPicPr>
        <p:blipFill>
          <a:blip r:embed="rId3"/>
          <a:srcRect l="563" t="1299" r="719"/>
          <a:stretch>
            <a:fillRect/>
          </a:stretch>
        </p:blipFill>
        <p:spPr>
          <a:xfrm>
            <a:off x="502919" y="1417319"/>
            <a:ext cx="5888549" cy="415156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67B1"/>
                </a:solidFill>
              </a:rPr>
              <a:t>Real-life question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20840" y="179222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</a:rPr>
              <a:t>How many minutes will a delivery take, given distance and traffic level?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720840" y="2971800"/>
            <a:ext cx="2240280" cy="658368"/>
          </a:xfrm>
          <a:prstGeom prst="roundRect">
            <a:avLst>
              <a:gd name="adj" fmla="val 11111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848856" y="3081528"/>
            <a:ext cx="19842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distance, traffic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098280" y="3300984"/>
            <a:ext cx="758952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966960" y="2971800"/>
            <a:ext cx="1691640" cy="658368"/>
          </a:xfrm>
          <a:prstGeom prst="roundRect">
            <a:avLst>
              <a:gd name="adj" fmla="val 11111"/>
            </a:avLst>
          </a:prstGeom>
          <a:solidFill>
            <a:srgbClr val="EAF5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94976" y="3081528"/>
            <a:ext cx="1435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neural network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B886"/>
                </a:solidFill>
              </a:rPr>
              <a:t>Output: delivery time in minutes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720840" y="449884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This is regression because the target is a continuous number.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formulation and evaluation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Model output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</a:rPr>
              <a:t>ŷ = fθ(distance, traffic)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Training loss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</a:rPr>
              <a:t>MSE = 1/N · Σ(yᵢ − ŷᵢ)²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263640" y="1600200"/>
            <a:ext cx="64008" cy="676656"/>
          </a:xfrm>
          <a:prstGeom prst="rect">
            <a:avLst/>
          </a:prstGeom>
          <a:solidFill>
            <a:srgbClr val="1167B1"/>
          </a:solidFill>
          <a:ln w="12700">
            <a:solidFill>
              <a:srgbClr val="116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28232" y="17190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2.92 min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28232" y="200253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Linear regression MAE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8549640" y="1600200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49640" y="1600200"/>
            <a:ext cx="64008" cy="676656"/>
          </a:xfrm>
          <a:prstGeom prst="rect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714232" y="171907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2.69 min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14232" y="2002536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Neural network MAE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6263640" y="257860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63640" y="2578608"/>
            <a:ext cx="64008" cy="676656"/>
          </a:xfrm>
          <a:prstGeom prst="rect">
            <a:avLst/>
          </a:prstGeom>
          <a:solidFill>
            <a:srgbClr val="1167B1"/>
          </a:solidFill>
          <a:ln w="12700">
            <a:solidFill>
              <a:srgbClr val="116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28232" y="26974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0.965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28232" y="2980944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Linear regression R²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8549640" y="2578608"/>
            <a:ext cx="20574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578608"/>
            <a:ext cx="64008" cy="676656"/>
          </a:xfrm>
          <a:prstGeom prst="rect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714232" y="26974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0.971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714232" y="2980944"/>
            <a:ext cx="1783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Neural network R²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67B1"/>
                </a:solidFill>
              </a:rPr>
              <a:t>Interpretation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4297680"/>
            <a:ext cx="4526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5569"/>
                </a:solidFill>
              </a:rPr>
              <a:t>MAE is measured in minutes. R² close to 1 means that the model explains most of the variation in delivery time.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Regression results: predictions and learning curve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regression_predictions.png"/>
          <p:cNvPicPr>
            <a:picLocks noChangeAspect="1"/>
          </p:cNvPicPr>
          <p:nvPr/>
        </p:nvPicPr>
        <p:blipFill>
          <a:blip r:embed="rId3"/>
          <a:srcRect l="4344" r="4344"/>
          <a:stretch/>
        </p:blipFill>
        <p:spPr>
          <a:xfrm>
            <a:off x="594360" y="1353312"/>
            <a:ext cx="5212080" cy="4251960"/>
          </a:xfrm>
          <a:prstGeom prst="rect">
            <a:avLst/>
          </a:prstGeom>
        </p:spPr>
      </p:pic>
      <p:pic>
        <p:nvPicPr>
          <p:cNvPr id="7" name="Image 1" descr="/mnt/data/dl_w01_refactor/assets/regression_loss.png"/>
          <p:cNvPicPr>
            <a:picLocks noChangeAspect="1"/>
          </p:cNvPicPr>
          <p:nvPr/>
        </p:nvPicPr>
        <p:blipFill>
          <a:blip r:embed="rId4"/>
          <a:srcRect l="6927" r="6927"/>
          <a:stretch/>
        </p:blipFill>
        <p:spPr>
          <a:xfrm>
            <a:off x="6263640" y="1508760"/>
            <a:ext cx="5166360" cy="3886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424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Points near the diagonal represent accurate numeric predictions.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446520" y="574243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A decreasing loss curve shows that training improved the network weights.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problem: quality-inspection decision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classification_data.png"/>
          <p:cNvPicPr>
            <a:picLocks noChangeAspect="1"/>
          </p:cNvPicPr>
          <p:nvPr/>
        </p:nvPicPr>
        <p:blipFill>
          <a:blip r:embed="rId3"/>
          <a:srcRect l="1907" r="1907"/>
          <a:stretch/>
        </p:blipFill>
        <p:spPr>
          <a:xfrm>
            <a:off x="640080" y="1353312"/>
            <a:ext cx="562356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67B1"/>
                </a:solidFill>
              </a:rPr>
              <a:t>Real-life question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720840" y="179222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</a:rPr>
              <a:t>Should the item be accepted as normal or sent for inspection?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720840" y="2971800"/>
            <a:ext cx="2331720" cy="658368"/>
          </a:xfrm>
          <a:prstGeom prst="roundRect">
            <a:avLst>
              <a:gd name="adj" fmla="val 11111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848856" y="3081528"/>
            <a:ext cx="2075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sensor A, sensor B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189720" y="3300984"/>
            <a:ext cx="704088" cy="0"/>
          </a:xfrm>
          <a:prstGeom prst="line">
            <a:avLst/>
          </a:prstGeom>
          <a:noFill/>
          <a:ln w="27940">
            <a:solidFill>
              <a:srgbClr val="1167B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0012680" y="2971800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EAF5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140696" y="3081528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</a:rPr>
              <a:t>neural network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720840" y="40690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B886"/>
                </a:solidFill>
              </a:rPr>
              <a:t>Output: probability of “requires inspection”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720840" y="4498848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This is classification because the output is a class label.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formulation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Network probability output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F172A"/>
                </a:solidFill>
              </a:rPr>
              <a:t>p̂ = P(y = 1 | x₁, x₂)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Decision threshold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</a:rPr>
              <a:t>ŷ = 1 if p̂ ≥ 0.5, otherwise 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67B1"/>
                </a:solidFill>
              </a:rPr>
              <a:t>Binary cross-entropy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0782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BCE = −1/N · Σ[yᵢlog(p̂ᵢ) + (1−yᵢ)log(1−p̂ᵢ)]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19202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1600200"/>
            <a:ext cx="64008" cy="676656"/>
          </a:xfrm>
          <a:prstGeom prst="rect">
            <a:avLst/>
          </a:prstGeom>
          <a:solidFill>
            <a:srgbClr val="12B886"/>
          </a:solidFill>
          <a:ln w="12700">
            <a:solidFill>
              <a:srgbClr val="12B8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94192" y="17190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0.947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4192" y="200253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Accuracy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229600" y="2542032"/>
            <a:ext cx="19202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29600" y="2542032"/>
            <a:ext cx="64008" cy="676656"/>
          </a:xfrm>
          <a:prstGeom prst="rect">
            <a:avLst/>
          </a:prstGeom>
          <a:solidFill>
            <a:srgbClr val="1167B1"/>
          </a:solidFill>
          <a:ln w="12700">
            <a:solidFill>
              <a:srgbClr val="116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94192" y="266090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0.925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94192" y="294436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Precision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8229600" y="3483864"/>
            <a:ext cx="192024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3970">
            <a:solidFill>
              <a:srgbClr val="DDECF9"/>
            </a:solidFill>
            <a:prstDash val="solid"/>
          </a:ln>
          <a:effectLst>
            <a:outerShdw blurRad="12700" dist="50800" dir="2700000" algn="bl" rotWithShape="0">
              <a:srgbClr val="E2E8F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0" y="3483864"/>
            <a:ext cx="64008" cy="6766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94192" y="360273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</a:rPr>
              <a:t>0.974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394192" y="388620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75569"/>
                </a:solidFill>
              </a:rPr>
              <a:t>Recall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818120" y="468172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</a:rPr>
              <a:t>The classifier must be judged by more than one metric because different errors can have different costs.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boundaries: linear baseline vs neural network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logistic_boundary.png"/>
          <p:cNvPicPr>
            <a:picLocks noChangeAspect="1"/>
          </p:cNvPicPr>
          <p:nvPr/>
        </p:nvPicPr>
        <p:blipFill>
          <a:blip r:embed="rId3"/>
          <a:srcRect l="4710" r="4710"/>
          <a:stretch/>
        </p:blipFill>
        <p:spPr>
          <a:xfrm>
            <a:off x="502920" y="1371600"/>
            <a:ext cx="5349240" cy="4297680"/>
          </a:xfrm>
          <a:prstGeom prst="rect">
            <a:avLst/>
          </a:prstGeom>
        </p:spPr>
      </p:pic>
      <p:pic>
        <p:nvPicPr>
          <p:cNvPr id="7" name="Image 1" descr="/mnt/data/dl_w01_refactor/assets/nn_boundary.png"/>
          <p:cNvPicPr>
            <a:picLocks noChangeAspect="1"/>
          </p:cNvPicPr>
          <p:nvPr/>
        </p:nvPicPr>
        <p:blipFill>
          <a:blip r:embed="rId4"/>
          <a:srcRect l="4710" r="4710"/>
          <a:stretch/>
        </p:blipFill>
        <p:spPr>
          <a:xfrm>
            <a:off x="6263640" y="1371600"/>
            <a:ext cx="5349240" cy="4297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A straight boundary is limited when the pattern is curved.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492240" y="5806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Hidden layers allow the boundary to bend around the data structure.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Classification results: confusion matrix and loss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pic>
        <p:nvPicPr>
          <p:cNvPr id="6" name="Image 0" descr="/mnt/data/dl_w01_refactor/assets/confusion_matrix.png"/>
          <p:cNvPicPr>
            <a:picLocks noChangeAspect="1"/>
          </p:cNvPicPr>
          <p:nvPr/>
        </p:nvPicPr>
        <p:blipFill>
          <a:blip r:embed="rId3"/>
          <a:srcRect t="440" b="440"/>
          <a:stretch/>
        </p:blipFill>
        <p:spPr>
          <a:xfrm>
            <a:off x="841248" y="1325880"/>
            <a:ext cx="4526280" cy="4160520"/>
          </a:xfrm>
          <a:prstGeom prst="rect">
            <a:avLst/>
          </a:prstGeom>
        </p:spPr>
      </p:pic>
      <p:pic>
        <p:nvPicPr>
          <p:cNvPr id="7" name="Image 1" descr="/mnt/data/dl_w01_refactor/assets/classification_loss.png"/>
          <p:cNvPicPr>
            <a:picLocks noChangeAspect="1"/>
          </p:cNvPicPr>
          <p:nvPr/>
        </p:nvPicPr>
        <p:blipFill>
          <a:blip r:embed="rId4"/>
          <a:srcRect l="5421" r="5421"/>
          <a:stretch/>
        </p:blipFill>
        <p:spPr>
          <a:xfrm>
            <a:off x="6080760" y="1600200"/>
            <a:ext cx="5166360" cy="3840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7552" y="5696712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The confusion matrix gives exact counts of correct and incorrect decisions.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6309360" y="56967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Loss should generally decrease as the network improves its weights.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167B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 · Deep Learning Foundations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Concept checks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064240" cy="0"/>
          </a:xfrm>
          <a:prstGeom prst="line">
            <a:avLst/>
          </a:prstGeom>
          <a:noFill/>
          <a:ln w="12700">
            <a:solidFill>
              <a:srgbClr val="C9E3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04120" y="310896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1167B1"/>
                </a:solidFill>
              </a:rPr>
              <a:t>Deep Learning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" y="152704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1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Why is delivery-time prediction a regression problem?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7408" y="14173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35424" y="152704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2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What does a decreasing loss curve indicate?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83296" y="141732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8FBFF"/>
          </a:solidFill>
          <a:ln w="15240">
            <a:solidFill>
              <a:srgbClr val="C9E3F8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11312" y="152704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3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Why can hidden layers help with a curved boundary?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88036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7FBF6"/>
          </a:solidFill>
          <a:ln w="15240">
            <a:solidFill>
              <a:srgbClr val="BFEBDD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9536" y="299008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4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When should precision matter more than accuracy?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07408" y="288036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7FBF6"/>
          </a:solidFill>
          <a:ln w="15240">
            <a:solidFill>
              <a:srgbClr val="BFEBDD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35424" y="299008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5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Why must test data be separated from training data?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83296" y="2880360"/>
            <a:ext cx="3429000" cy="1051560"/>
          </a:xfrm>
          <a:prstGeom prst="roundRect">
            <a:avLst>
              <a:gd name="adj" fmla="val 6957"/>
            </a:avLst>
          </a:prstGeom>
          <a:solidFill>
            <a:srgbClr val="F7FBF6"/>
          </a:solidFill>
          <a:ln w="15240">
            <a:solidFill>
              <a:srgbClr val="BFEBDD"/>
            </a:solidFill>
            <a:prstDash val="solid"/>
          </a:ln>
          <a:effectLst>
            <a:outerShdw blurRad="12700" dist="50800" dir="2700000" algn="bl" rotWithShape="0">
              <a:srgbClr val="E2E8F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11312" y="2990088"/>
            <a:ext cx="317296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6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</a:rPr>
              <a:t>When can a simpler model still be preferred?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800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67B1"/>
                </a:solidFill>
              </a:rPr>
              <a:t>Main takeaway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523036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</a:rPr>
              <a:t>A neural network is not valuable because it is complicated. It is valuable when it learns useful representations and improves real decisions in a measurable way.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745</Words>
  <Application>Microsoft Office PowerPoint</Application>
  <PresentationFormat>Widescreen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AIBabyTeaching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W01 Deep Learning Foundations</dc:title>
  <dc:subject>Deep Learning Foundations</dc:subject>
  <dc:creator>Ahmed Métwalli</dc:creator>
  <cp:lastModifiedBy>Ahmed Métwalli</cp:lastModifiedBy>
  <cp:revision>2</cp:revision>
  <dcterms:created xsi:type="dcterms:W3CDTF">2026-09-20T04:23:21Z</dcterms:created>
  <dcterms:modified xsi:type="dcterms:W3CDTF">2026-09-20T04:28:02Z</dcterms:modified>
</cp:coreProperties>
</file>