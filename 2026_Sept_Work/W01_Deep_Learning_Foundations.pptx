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259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white_background_infographic_like_scene.png"/>
          <p:cNvPicPr>
            <a:picLocks noChangeAspect="1"/>
          </p:cNvPicPr>
          <p:nvPr/>
        </p:nvPicPr>
        <p:blipFill>
          <a:blip r:embed="rId3"/>
          <a:srcRect l="1726" r="745"/>
          <a:stretch>
            <a:fillRect/>
          </a:stretch>
        </p:blipFill>
        <p:spPr>
          <a:xfrm>
            <a:off x="367626" y="826954"/>
            <a:ext cx="7423902" cy="44728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83894" y="940897"/>
            <a:ext cx="3977640" cy="4498848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6F2FC"/>
            </a:solidFill>
            <a:prstDash val="solid"/>
          </a:ln>
          <a:effectLst>
            <a:outerShdw blurRad="25400" dist="50800" dir="2700000" algn="bl" rotWithShape="0">
              <a:srgbClr val="DDECF9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303934" y="1215217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W01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303934" y="1553545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</a:rPr>
              <a:t>Deep Learning Foundations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303934" y="2312497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Neural networks for regression and classification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303934" y="3226897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49654" y="3318337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Regression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812694" y="3226897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858414" y="3318337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03934" y="3958417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Professional notebook + visual lecture deck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03934" y="438818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From data to representation to 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neural networks are introduced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Classical ML can work extremely well when useful features are already prepared. Neural networks become valuable when the useful representation itself must be learned from data.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2670048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935224"/>
            <a:ext cx="84124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25603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4136" y="2670048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935224"/>
            <a:ext cx="79552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25603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EAF5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88736" y="2670048"/>
            <a:ext cx="978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2935224"/>
            <a:ext cx="804672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0" y="2560320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83296" y="267004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Classical machine learning workflow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8869680" cy="0"/>
          </a:xfrm>
          <a:prstGeom prst="line">
            <a:avLst/>
          </a:prstGeom>
          <a:noFill/>
          <a:ln w="12700">
            <a:solidFill>
              <a:srgbClr val="D8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34440" y="443484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62456" y="4544568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06040" y="4809744"/>
            <a:ext cx="74980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0" y="443484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EAF5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02736" y="4544568"/>
            <a:ext cx="1892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representation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4809744"/>
            <a:ext cx="777240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65392" y="4434840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93408" y="454456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886"/>
                </a:solidFill>
              </a:rPr>
              <a:t>Deep learning workflow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4453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Representation learning is the key difference.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neuron: the smallest building block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103120"/>
            <a:ext cx="15727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x₁, x₂, …, xₙ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377440"/>
            <a:ext cx="74980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48456" y="1984248"/>
            <a:ext cx="1801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Weighted sum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z = wᵀx +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2377440"/>
            <a:ext cx="74980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1874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9FBF5"/>
          </a:solidFill>
          <a:ln w="15240">
            <a:solidFill>
              <a:srgbClr val="BFEBDD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65976" y="198424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Activation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 = g(z)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76488" y="2377440"/>
            <a:ext cx="713232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08592" y="199339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36608" y="2103120"/>
            <a:ext cx="9784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67B1"/>
                </a:solidFill>
              </a:rPr>
              <a:t>Expanded equation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224528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z = w₁x₁ + w₂x₂ + ⋯ + wₙxₙ + b </a:t>
            </a:r>
            <a:r>
              <a:rPr lang="en-US" sz="2200" b="1">
                <a:solidFill>
                  <a:srgbClr val="0F172A"/>
                </a:solidFill>
              </a:rPr>
              <a:t>| Linearity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4828032"/>
            <a:ext cx="6208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B886"/>
                </a:solidFill>
              </a:rPr>
              <a:t>a = g(z) | Introduce Non-Linearity 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Weights and bias are learned from data. The activation allows non-linear behavior instead of only straight-line rules.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used in the notebook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network_architecture.png"/>
          <p:cNvPicPr>
            <a:picLocks noChangeAspect="1"/>
          </p:cNvPicPr>
          <p:nvPr/>
        </p:nvPicPr>
        <p:blipFill>
          <a:blip r:embed="rId3"/>
          <a:srcRect l="3146" r="3146"/>
          <a:stretch/>
        </p:blipFill>
        <p:spPr>
          <a:xfrm>
            <a:off x="594360" y="1325880"/>
            <a:ext cx="653796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5087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Two input features are passed through hidden neurons. Each hidden layer transforms the data into a more useful representation before the final output is produced.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35240" y="2788920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35240" y="2788920"/>
            <a:ext cx="64008" cy="676656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99832" y="29077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 features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99832" y="31912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Input size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9646920" y="2788920"/>
            <a:ext cx="1920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646920" y="2788920"/>
            <a:ext cx="64008" cy="676656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11512" y="2907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8 → 4 neurons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11512" y="31912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Hidden layers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635240" y="3703320"/>
            <a:ext cx="39319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635240" y="3703320"/>
            <a:ext cx="6400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99832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 value or probability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799832" y="4105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Output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7635240" y="4864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The same architecture idea is used twice: once for a numeric prediction and once for a class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problem: delivery-time prediction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regression_data.png"/>
          <p:cNvPicPr>
            <a:picLocks noChangeAspect="1"/>
          </p:cNvPicPr>
          <p:nvPr/>
        </p:nvPicPr>
        <p:blipFill>
          <a:blip r:embed="rId3"/>
          <a:srcRect l="563" t="1299" r="719"/>
          <a:stretch>
            <a:fillRect/>
          </a:stretch>
        </p:blipFill>
        <p:spPr>
          <a:xfrm>
            <a:off x="502919" y="1417319"/>
            <a:ext cx="5888549" cy="41515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67B1"/>
                </a:solidFill>
              </a:rPr>
              <a:t>Real-life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179222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How many minutes will a delivery take, given distance and traffic level?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720840" y="297180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48856" y="3081528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distance, traffic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98280" y="3300984"/>
            <a:ext cx="758952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966960" y="297180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AF5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94976" y="3081528"/>
            <a:ext cx="1435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neural network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2084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B886"/>
                </a:solidFill>
              </a:rPr>
              <a:t>Output: delivery time in minutes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20840" y="44988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This is regression because the target is a continuous number.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formulation and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Model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ŷ = fθ(distance, traffic)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Training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MSE = 1/N · Σ(yᵢ − ŷᵢ)²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2057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64008" cy="676656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2.92 min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28232" y="200253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Linear regression MAE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549640" y="1600200"/>
            <a:ext cx="2057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1600200"/>
            <a:ext cx="64008" cy="676656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14232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2.69 min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14232" y="200253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Neural network MAE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263640" y="2578608"/>
            <a:ext cx="2057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2578608"/>
            <a:ext cx="64008" cy="676656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28232" y="2697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0.965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28232" y="29809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Linear regression R²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549640" y="2578608"/>
            <a:ext cx="2057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9640" y="2578608"/>
            <a:ext cx="64008" cy="676656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14232" y="2697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0.971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714232" y="29809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Neural network R²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26364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67B1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429768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MAE is measured in minutes. R² close to 1 means that the model explains most of the variation in delivery time.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results: predictions and learning curve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regression_predictions.png"/>
          <p:cNvPicPr>
            <a:picLocks noChangeAspect="1"/>
          </p:cNvPicPr>
          <p:nvPr/>
        </p:nvPicPr>
        <p:blipFill>
          <a:blip r:embed="rId3"/>
          <a:srcRect l="4344" r="4344"/>
          <a:stretch/>
        </p:blipFill>
        <p:spPr>
          <a:xfrm>
            <a:off x="594360" y="1353312"/>
            <a:ext cx="5212080" cy="4251960"/>
          </a:xfrm>
          <a:prstGeom prst="rect">
            <a:avLst/>
          </a:prstGeom>
        </p:spPr>
      </p:pic>
      <p:pic>
        <p:nvPicPr>
          <p:cNvPr id="7" name="Image 1" descr="/mnt/data/dl_w01_refactor/assets/regression_loss.png"/>
          <p:cNvPicPr>
            <a:picLocks noChangeAspect="1"/>
          </p:cNvPicPr>
          <p:nvPr/>
        </p:nvPicPr>
        <p:blipFill>
          <a:blip r:embed="rId4"/>
          <a:srcRect l="6927" r="6927"/>
          <a:stretch/>
        </p:blipFill>
        <p:spPr>
          <a:xfrm>
            <a:off x="6263640" y="1508760"/>
            <a:ext cx="5166360" cy="3886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5742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Points near the diagonal represent accurate numeric predictions.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46520" y="57424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decreasing loss curve shows that training improved the network weights.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problem: quality-inspection decision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classification_data.png"/>
          <p:cNvPicPr>
            <a:picLocks noChangeAspect="1"/>
          </p:cNvPicPr>
          <p:nvPr/>
        </p:nvPicPr>
        <p:blipFill>
          <a:blip r:embed="rId3"/>
          <a:srcRect l="1907" r="1907"/>
          <a:stretch/>
        </p:blipFill>
        <p:spPr>
          <a:xfrm>
            <a:off x="640080" y="1353312"/>
            <a:ext cx="56235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67B1"/>
                </a:solidFill>
              </a:rPr>
              <a:t>Real-life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179222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Should the item be accepted as normal or sent for inspection?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720840" y="29718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48856" y="3081528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sensor A, sensor 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89720" y="3300984"/>
            <a:ext cx="704088" cy="0"/>
          </a:xfrm>
          <a:prstGeom prst="line">
            <a:avLst/>
          </a:prstGeom>
          <a:noFill/>
          <a:ln w="27940">
            <a:solidFill>
              <a:srgbClr val="1167B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12680" y="29718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5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140696" y="3081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neural network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20840" y="4069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B886"/>
                </a:solidFill>
              </a:rPr>
              <a:t>Output: probability of “requires inspection”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20840" y="44988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This is classification because the output is a class label.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formulation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Network probability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p̂ = P(y = 1 | x₁, x₂)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Decision threshold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ŷ = 1 if p̂ ≥ 0.5, otherwise 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712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7B1"/>
                </a:solidFill>
              </a:rPr>
              <a:t>Binary cross-entropy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7822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BCE = −1/N · Σ[yᵢlog(p̂ᵢ) + (1−yᵢ)log(1−p̂ᵢ)]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1920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64008" cy="676656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94192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0.947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4192" y="20025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Accuracy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29600" y="2542032"/>
            <a:ext cx="1920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542032"/>
            <a:ext cx="64008" cy="676656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26609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0.925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4192" y="29443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Precision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229600" y="3483864"/>
            <a:ext cx="1920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DECF9"/>
            </a:solidFill>
            <a:prstDash val="solid"/>
          </a:ln>
          <a:effectLst>
            <a:outerShdw blurRad="12700" dist="50800" dir="2700000" algn="bl" rotWithShape="0">
              <a:srgbClr val="E2E8F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3483864"/>
            <a:ext cx="6400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94192" y="3602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0.974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94192" y="38862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Recall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818120" y="46817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The classifier must be judged by more than one metric because different errors can have different costs.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boundaries: linear baseline vs neural network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logistic_boundary.png"/>
          <p:cNvPicPr>
            <a:picLocks noChangeAspect="1"/>
          </p:cNvPicPr>
          <p:nvPr/>
        </p:nvPicPr>
        <p:blipFill>
          <a:blip r:embed="rId3"/>
          <a:srcRect l="4710" r="4710"/>
          <a:stretch/>
        </p:blipFill>
        <p:spPr>
          <a:xfrm>
            <a:off x="502920" y="1371600"/>
            <a:ext cx="5349240" cy="4297680"/>
          </a:xfrm>
          <a:prstGeom prst="rect">
            <a:avLst/>
          </a:prstGeom>
        </p:spPr>
      </p:pic>
      <p:pic>
        <p:nvPicPr>
          <p:cNvPr id="7" name="Image 1" descr="/mnt/data/dl_w01_refactor/assets/nn_boundary.png"/>
          <p:cNvPicPr>
            <a:picLocks noChangeAspect="1"/>
          </p:cNvPicPr>
          <p:nvPr/>
        </p:nvPicPr>
        <p:blipFill>
          <a:blip r:embed="rId4"/>
          <a:srcRect l="4710" r="4710"/>
          <a:stretch/>
        </p:blipFill>
        <p:spPr>
          <a:xfrm>
            <a:off x="6263640" y="1371600"/>
            <a:ext cx="5349240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straight boundary is limited when the pattern is curved.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9224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Hidden layers allow the boundary to bend around the data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results: confusion matrix and loss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pic>
        <p:nvPicPr>
          <p:cNvPr id="6" name="Image 0" descr="/mnt/data/dl_w01_refactor/assets/confusion_matrix.png"/>
          <p:cNvPicPr>
            <a:picLocks noChangeAspect="1"/>
          </p:cNvPicPr>
          <p:nvPr/>
        </p:nvPicPr>
        <p:blipFill>
          <a:blip r:embed="rId3"/>
          <a:srcRect t="440" b="440"/>
          <a:stretch/>
        </p:blipFill>
        <p:spPr>
          <a:xfrm>
            <a:off x="841248" y="1325880"/>
            <a:ext cx="4526280" cy="4160520"/>
          </a:xfrm>
          <a:prstGeom prst="rect">
            <a:avLst/>
          </a:prstGeom>
        </p:spPr>
      </p:pic>
      <p:pic>
        <p:nvPicPr>
          <p:cNvPr id="7" name="Image 1" descr="/mnt/data/dl_w01_refactor/assets/classification_loss.png"/>
          <p:cNvPicPr>
            <a:picLocks noChangeAspect="1"/>
          </p:cNvPicPr>
          <p:nvPr/>
        </p:nvPicPr>
        <p:blipFill>
          <a:blip r:embed="rId4"/>
          <a:srcRect l="5421" r="5421"/>
          <a:stretch/>
        </p:blipFill>
        <p:spPr>
          <a:xfrm>
            <a:off x="6080760" y="1600200"/>
            <a:ext cx="516636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56967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confusion matrix gives exact counts of correct and incorrect decisions.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309360" y="56967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Loss should generally decrease as the network improves its weights.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 · Deep Learning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064240" cy="0"/>
          </a:xfrm>
          <a:prstGeom prst="line">
            <a:avLst/>
          </a:prstGeom>
          <a:noFill/>
          <a:ln w="12700">
            <a:solidFill>
              <a:srgbClr val="C9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108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67B1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52704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is delivery-time prediction a regression problem?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35424" y="152704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What does a decreasing loss curve indicate?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14173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5240">
            <a:solidFill>
              <a:srgbClr val="C9E3F8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11312" y="152704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can hidden layers help with a curved boundary?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7FBF6"/>
          </a:solidFill>
          <a:ln w="15240">
            <a:solidFill>
              <a:srgbClr val="BFEBDD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29900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When should precision matter more than accuracy?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07408" y="28803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7FBF6"/>
          </a:solidFill>
          <a:ln w="15240">
            <a:solidFill>
              <a:srgbClr val="BFEBDD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35424" y="29900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5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must test data be separated from training data?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83296" y="28803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7FBF6"/>
          </a:solidFill>
          <a:ln w="15240">
            <a:solidFill>
              <a:srgbClr val="BFEBDD"/>
            </a:solidFill>
            <a:prstDash val="solid"/>
          </a:ln>
          <a:effectLst>
            <a:outerShdw blurRad="12700" dist="50800" dir="2700000" algn="bl" rotWithShape="0">
              <a:srgbClr val="E2E8F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11312" y="29900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6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When can a simpler model still be preferred?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67B1"/>
                </a:solidFill>
              </a:rPr>
              <a:t>Main takeaway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23036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 neural network is not valuable because it is complicated. It is valuable when it learns useful representations and improves real decisions in a measurable way.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750</Words>
  <Application>Microsoft Office PowerPoint</Application>
  <PresentationFormat>Widescreen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AIBabyTeaching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W01 Deep Learning Foundations</dc:title>
  <dc:subject>Deep Learning Foundations</dc:subject>
  <dc:creator>Ahmed Métwalli</dc:creator>
  <cp:lastModifiedBy>Ahmed Métwalli</cp:lastModifiedBy>
  <cp:revision>3</cp:revision>
  <dcterms:created xsi:type="dcterms:W3CDTF">2026-09-20T04:23:21Z</dcterms:created>
  <dcterms:modified xsi:type="dcterms:W3CDTF">2026-09-20T16:17:12Z</dcterms:modified>
</cp:coreProperties>
</file>